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6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Four parts: what RAG is and when to use it instead of fine-tuning,</a:t>
            </a:r>
          </a:p>
          <a:p>
            <a:r>
              <a:t>the two pipelines every RAG system has, a hands-on build, and finally where</a:t>
            </a:r>
          </a:p>
          <a:p>
            <a:r>
              <a:t>the simple version breaks and how to fix it.</a:t>
            </a:r>
          </a:p>
          <a:p>
            <a:r>
              <a:t>The notebook runs end to end, so you leave with working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expectations. The first half is concepts, the second half is code and</a:t>
            </a:r>
          </a:p>
          <a:p>
            <a:r>
              <a:t>failure modes. The interesting part is part four: everyone can build a demo</a:t>
            </a:r>
          </a:p>
          <a:p>
            <a:r>
              <a:t>RAG, few can explain why it goes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simple. RAG is open-book versus closed-book examination.</a:t>
            </a:r>
          </a:p>
          <a:p>
            <a:r>
              <a:t>The model stops being the source of facts and becomes the thing that reads</a:t>
            </a:r>
          </a:p>
          <a:p>
            <a:r>
              <a:t>and summarises the facts you supply. That single change is what makes</a:t>
            </a:r>
          </a:p>
          <a:p>
            <a:r>
              <a:t>citation, freshness, and access control possible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room which of these bites hardest in their work. Usually it is</a:t>
            </a:r>
          </a:p>
          <a:p>
            <a:r>
              <a:t>freshness or provenance. Note that access control is the one people forget</a:t>
            </a:r>
          </a:p>
          <a:p>
            <a:r>
              <a:t>at design time and then cannot retrofit cheaply.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people screenshot. The common mistake is fine-tuning to</a:t>
            </a:r>
          </a:p>
          <a:p>
            <a:r>
              <a:t>add knowledge - it is expensive, it does not add traceability, and the</a:t>
            </a:r>
          </a:p>
          <a:p>
            <a:r>
              <a:t>knowledge is stale the moment a document changes.</a:t>
            </a:r>
          </a:p>
          <a:p>
            <a:r>
              <a:t>If the answer should change when a document changes, that is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key insight: ingestion is slow, batch, and offline. Retrieval is fast,</a:t>
            </a:r>
          </a:p>
          <a:p>
            <a:r>
              <a:t>per-request, and online. Latency budgets only apply to the bottom row.</a:t>
            </a:r>
          </a:p>
          <a:p>
            <a:r>
              <a:t>The shared-embedding-model rule sounds obvious and is violated constantly,</a:t>
            </a:r>
          </a:p>
          <a:p>
            <a:r>
              <a:t>usually when someone upgrades the model but does not re-index.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chunking. It is the highest-leverage knob and the one people tune</a:t>
            </a:r>
          </a:p>
          <a:p>
            <a:r>
              <a:t>last. The separator list matters: splitting on headings and paragraphs keeps</a:t>
            </a:r>
          </a:p>
          <a:p>
            <a:r>
              <a:t>semantically whole ideas together, which is the entire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Get everyone's kernel selected and API key working before moving on.</a:t>
            </a:r>
          </a:p>
          <a:p>
            <a:r>
              <a:t>Point out the overlapping corpus: a toy dataset where every document is</a:t>
            </a:r>
          </a:p>
          <a:p>
            <a:r>
              <a:t>about a different topic makes retrieval look far better than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right-hand column is the debugging guide. When an answer is wrong, first</a:t>
            </a:r>
          </a:p>
          <a:p>
            <a:r>
              <a:t>question: was the correct chunk retrieved at all? If no, it is a retrieval</a:t>
            </a:r>
          </a:p>
          <a:p>
            <a:r>
              <a:t>problem - chunking, embeddings, k. If yes, it is a generation problem -</a:t>
            </a:r>
          </a:p>
          <a:p>
            <a:r>
              <a:t>prompt, model, or output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the floor by asking something absurd - 'what is the parental leave</a:t>
            </a:r>
          </a:p>
          <a:p>
            <a:r>
              <a:t>policy?'. Nothing in the corpus covers it. Show that the system declines</a:t>
            </a:r>
          </a:p>
          <a:p>
            <a:r>
              <a:t>instead of inventing an answer, and that it never even calls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Live-code this. Pause after chunking and print one chunk - seeing the actual</a:t>
            </a:r>
          </a:p>
          <a:p>
            <a:r>
              <a:t>text is what makes chunking click. Ask what happens to chunk count if you</a:t>
            </a:r>
          </a:p>
          <a:p>
            <a:r>
              <a:t>halve chunk_size, then try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Try deleting rule 2 live and re-asking an out-of-scope question. The model</a:t>
            </a:r>
          </a:p>
          <a:p>
            <a:r>
              <a:t>will usually invent a policy. That single demo teaches grounding better than</a:t>
            </a:r>
          </a:p>
          <a:p>
            <a:r>
              <a:t>any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that separates a demo from a system. Everyone builds</a:t>
            </a:r>
          </a:p>
          <a:p>
            <a:r>
              <a:t>retrieve-and-generate. Almost nobody validates that the citations the model</a:t>
            </a:r>
          </a:p>
          <a:p>
            <a:r>
              <a:t>produced actually point at passages that were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questions written by a domain expert beats a thousand synthetic ones.</a:t>
            </a:r>
          </a:p>
          <a:p>
            <a:r>
              <a:t>The point is not the absolute score, it is noticing when a config change</a:t>
            </a:r>
          </a:p>
          <a:p>
            <a:r>
              <a:t>made things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notebook has a stress-test cell that triggers the first three of these</a:t>
            </a:r>
          </a:p>
          <a:p>
            <a:r>
              <a:t>live. Run it. Watching a system fail teaches far more than being told it</a:t>
            </a:r>
          </a:p>
          <a:p>
            <a:r>
              <a:t>might, and it makes the next slide feel necessary rather than academic.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Resist the temptation to add all six at once. Each one adds latency, cost,</a:t>
            </a:r>
          </a:p>
          <a:p>
            <a:r>
              <a:t>and a new failure mode. Hybrid search first - it is cheap, it is a well</a:t>
            </a:r>
          </a:p>
          <a:p>
            <a:r>
              <a:t>understood technique, and it fixes the most visible class of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practical takeaway slide. Most teams jump straight to a bigger</a:t>
            </a:r>
          </a:p>
          <a:p>
            <a:r>
              <a:t>model when the real problem is retrieval. Diagnose first: was the right</a:t>
            </a:r>
          </a:p>
          <a:p>
            <a:r>
              <a:t>chunk in the prompt? Everything follows from that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pointing back at the notebook. Everything discussed today is</a:t>
            </a:r>
          </a:p>
          <a:p>
            <a:r>
              <a:t>runnable in it, including the stress tests. Encourage swapping in real</a:t>
            </a:r>
          </a:p>
          <a:p>
            <a:r>
              <a:t>documents from their own team - that is when the failure modes get</a:t>
            </a:r>
          </a:p>
          <a:p>
            <a:r>
              <a:t>interesting and the learning actually sticks.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700000" y="-500000"/>
            <a:ext cx="3840480" cy="3840480"/>
          </a:xfrm>
          <a:prstGeom prst="donut">
            <a:avLst/>
          </a:prstGeom>
          <a:noFill/>
          <a:ln w="203200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220"/>
                </a:solidFill>
                <a:latin typeface="Segoe UI"/>
              </a:rPr>
              <a:t>GENAI LEARNING WORKSHOP</a:t>
            </a:r>
            <a:endParaRPr sz="1400" b="1">
              <a:solidFill>
                <a:srgbClr val="FFC220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767205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Segoe UI"/>
              </a:rPr>
              <a:t>Retrieval-Augmented Generation</a:t>
            </a:r>
            <a:endParaRPr sz="4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489325"/>
            <a:ext cx="7680960" cy="456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Segoe UI"/>
              </a:rPr>
              <a:t>From fundamentals to a working pipeline</a:t>
            </a:r>
            <a:endParaRPr sz="1900" b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22985" y="4990465"/>
            <a:ext cx="1280160" cy="508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4286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Hands-on with LangChain, FAISS and Gemini 3.5 Flash Lite</a:t>
            </a:r>
            <a:endParaRPr sz="1400" b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AGENDA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Four parts, one working system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2554224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1 · Fundamentals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What RAG is,
and RAG vs fine-tuning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270199" y="2798064"/>
            <a:ext cx="140817" cy="164592"/>
          </a:xfrm>
          <a:prstGeom prst="rightArrow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41192" y="2194560"/>
            <a:ext cx="2554224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2 · Building blocks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Ingestion and
retrieval pipelines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6025591" y="2798064"/>
            <a:ext cx="140817" cy="164592"/>
          </a:xfrm>
          <a:prstGeom prst="rightArrow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6584" y="2194560"/>
            <a:ext cx="2554224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3 · Hands-on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Build a simple RAG
system in a notebook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8780983" y="2798064"/>
            <a:ext cx="140817" cy="164592"/>
          </a:xfrm>
          <a:prstGeom prst="rightArrow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51976" y="2194560"/>
            <a:ext cx="2554224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4 · Advanced RAG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Limitations and
the enhancements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10820400" cy="12344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41E42"/>
                </a:solidFill>
                <a:latin typeface="Segoe UI"/>
              </a:rPr>
              <a:t>• You will leave with: </a:t>
            </a:r>
            <a:r>
              <a:rPr sz="1400">
                <a:solidFill>
                  <a:srgbClr val="5A5A5A"/>
                </a:solidFill>
                <a:latin typeface="Segoe UI"/>
              </a:rPr>
              <a:t>a runnable notebook, a mental model of both pipelines, and a checklist of what to fix first when quality disappoints.</a:t>
            </a:r>
            <a:endParaRPr sz="140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41E42"/>
                </a:solidFill>
                <a:latin typeface="Segoe UI"/>
              </a:rPr>
              <a:t>• Prerequisite: </a:t>
            </a:r>
            <a:r>
              <a:rPr sz="1400">
                <a:solidFill>
                  <a:srgbClr val="5A5A5A"/>
                </a:solidFill>
                <a:latin typeface="Segoe UI"/>
              </a:rPr>
              <a:t>comfort with Python. No machine-learning background needed.</a:t>
            </a:r>
            <a:endParaRPr sz="14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2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01 · FUNDAMENTALS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What is RAG?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Retrieve relevant facts first, then let the model write the answer.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48463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19456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41E42"/>
                </a:solidFill>
                <a:latin typeface="Segoe UI"/>
              </a:rPr>
              <a:t>• Without RAG: </a:t>
            </a:r>
            <a:r>
              <a:rPr sz="1400">
                <a:solidFill>
                  <a:srgbClr val="5A5A5A"/>
                </a:solidFill>
                <a:latin typeface="Segoe UI"/>
              </a:rPr>
              <a:t>the model answers from memory alone. It cannot know your policies, and it will not admit that.</a:t>
            </a:r>
            <a:endParaRPr sz="140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41E42"/>
                </a:solidFill>
                <a:latin typeface="Segoe UI"/>
              </a:rPr>
              <a:t>• With RAG: </a:t>
            </a:r>
            <a:r>
              <a:rPr sz="1400">
                <a:solidFill>
                  <a:srgbClr val="5A5A5A"/>
                </a:solidFill>
                <a:latin typeface="Segoe UI"/>
              </a:rPr>
              <a:t>we search a trusted corpus, put the best passages into the prompt, and ask the model to answer from those.</a:t>
            </a:r>
            <a:endParaRPr sz="140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41E42"/>
                </a:solidFill>
                <a:latin typeface="Segoe UI"/>
              </a:rPr>
              <a:t>• The shift: </a:t>
            </a:r>
            <a:r>
              <a:rPr sz="1400">
                <a:solidFill>
                  <a:srgbClr val="5A5A5A"/>
                </a:solidFill>
                <a:latin typeface="Segoe UI"/>
              </a:rPr>
              <a:t>from 'what does the model remember?' to 'what did we just retrieve?'</a:t>
            </a:r>
            <a:endParaRPr sz="14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THE CORE IDEA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89320" y="173304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THE WHOLE IDEA, IN CODE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89320" y="2007235"/>
            <a:ext cx="4526280" cy="2901315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l"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Without RAG - answers from training memory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answer = llm(question)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With RAG - answers from your documents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chunks  = vector_store.search(question, k=4)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context = format(chunks)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answer  = llm(prompt(context, question))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 ^ grounded, citable, and updatable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   without retraining anything</a:t>
            </a:r>
            <a:endParaRPr sz="1100">
              <a:solidFill>
                <a:srgbClr val="FFC220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3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01 · FUNDAMENTALS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Four problems RAG solves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Each maps to a real failure of a bare LLM.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48463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KNOWLEDGE CUTOFF
</a:t>
            </a:r>
            <a:r>
              <a:rPr sz="1500" b="1">
                <a:solidFill>
                  <a:srgbClr val="041E42"/>
                </a:solidFill>
                <a:latin typeface="Segoe UI"/>
              </a:rPr>
              <a:t>Freshness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The model's training stopped at a date. Your policy changed last Tuesday. Update the index, not the weights.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89320" y="1691640"/>
            <a:ext cx="48463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HALLUCINATION
</a:t>
            </a:r>
            <a:r>
              <a:rPr sz="1500" b="1">
                <a:solidFill>
                  <a:srgbClr val="041E42"/>
                </a:solidFill>
                <a:latin typeface="Segoe UI"/>
              </a:rPr>
              <a:t>Grounding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A model with no facts still produces fluent text. Supplying passages, and demanding citations, gives it something true to say.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3447288"/>
            <a:ext cx="48463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NO PROVENANCE
</a:t>
            </a:r>
            <a:r>
              <a:rPr sz="1500" b="1">
                <a:solidFill>
                  <a:srgbClr val="041E42"/>
                </a:solidFill>
                <a:latin typeface="Segoe UI"/>
              </a:rPr>
              <a:t>Traceability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'The model said so' fails an audit. Retrieved chunks give every claim a source you can open and check.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89320" y="3447288"/>
            <a:ext cx="48463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NO ACCESS CONTROL
</a:t>
            </a:r>
            <a:r>
              <a:rPr sz="1500" b="1">
                <a:solidFill>
                  <a:srgbClr val="041E42"/>
                </a:solidFill>
                <a:latin typeface="Segoe UI"/>
              </a:rPr>
              <a:t>Permissions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Weights cannot be filtered per user. A retrieval index can be, using metadata, before a single token is generated.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4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01 · FUNDAMENTALS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RAG vs fine-tuning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They solve different problems. The question is 'which, when' — not 'which is better'.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82039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754"/>
                <a:gridCol w="4079822"/>
                <a:gridCol w="4079822"/>
              </a:tblGrid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sz="125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RAG</a:t>
                      </a:r>
                      <a:endParaRPr sz="125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Fine-tuning</a:t>
                      </a:r>
                      <a:endParaRPr sz="125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41E42"/>
                          </a:solidFill>
                          <a:latin typeface="Segoe UI"/>
                        </a:rPr>
                        <a:t>Changes</a:t>
                      </a:r>
                      <a:endParaRPr sz="12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What the model knows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How the model behaves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41E42"/>
                          </a:solidFill>
                          <a:latin typeface="Segoe UI"/>
                        </a:rPr>
                        <a:t>Best for</a:t>
                      </a:r>
                      <a:endParaRPr sz="12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Facts, policies, documents that change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Tone, format, structured output, niche skills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41E42"/>
                          </a:solidFill>
                          <a:latin typeface="Segoe UI"/>
                        </a:rPr>
                        <a:t>Update cost</a:t>
                      </a:r>
                      <a:endParaRPr sz="12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Re-index a document — seconds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Retrain and redeploy — hours to days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41E42"/>
                          </a:solidFill>
                          <a:latin typeface="Segoe UI"/>
                        </a:rPr>
                        <a:t>Upfront cost</a:t>
                      </a:r>
                      <a:endParaRPr sz="12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Low: chunk, embed, index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High: curated training data, GPU time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41E42"/>
                          </a:solidFill>
                          <a:latin typeface="Segoe UI"/>
                        </a:rPr>
                        <a:t>Traceability</a:t>
                      </a:r>
                      <a:endParaRPr sz="12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Cites the exact source passage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None — knowledge is baked into weights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41E42"/>
                          </a:solidFill>
                          <a:latin typeface="Segoe UI"/>
                        </a:rPr>
                        <a:t>Access control</a:t>
                      </a:r>
                      <a:endParaRPr sz="12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Filter by metadata at query time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Not possible without separate models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41E42"/>
                          </a:solidFill>
                          <a:latin typeface="Segoe UI"/>
                        </a:rPr>
                        <a:t>Fails when</a:t>
                      </a:r>
                      <a:endParaRPr sz="12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Retrieval misses the right chunk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041E42"/>
                          </a:solidFill>
                          <a:latin typeface="Segoe UI"/>
                        </a:rPr>
                        <a:t>Facts change, or data was thin</a:t>
                      </a:r>
                      <a:endParaRPr sz="12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846320"/>
            <a:ext cx="10820400" cy="7772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FFC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18872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041E42"/>
                </a:solidFill>
                <a:latin typeface="Segoe UI"/>
              </a:rPr>
              <a:t>• Rule of thumb: </a:t>
            </a:r>
            <a:r>
              <a:rPr sz="1350">
                <a:solidFill>
                  <a:srgbClr val="5A5A5A"/>
                </a:solidFill>
                <a:latin typeface="Segoe UI"/>
              </a:rPr>
              <a:t>RAG for what the model should know. Fine-tuning for how it should speak. Mature systems often use both — and you should always try RAG first, because it is far cheaper to be wrong.</a:t>
            </a:r>
            <a:endParaRPr sz="13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5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02 · BUILDING BLOCKS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Every RAG system is two pipelines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They run at different times — and confusing them is the most common design mistake.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2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INGESTION — OFFLINE, RUNS AHEAD OF TIME, ONCE PER DOCUMENT CHANGE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Load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Read source
files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719120" y="2569464"/>
            <a:ext cx="140817" cy="164592"/>
          </a:xfrm>
          <a:prstGeom prst="rightArrow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0113" y="214884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Clean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Strip noise,
add metadata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923433" y="2569464"/>
            <a:ext cx="140817" cy="164592"/>
          </a:xfrm>
          <a:prstGeom prst="rightArrow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4426" y="214884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Chunk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Split into
passages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127746" y="2569464"/>
            <a:ext cx="140817" cy="164592"/>
          </a:xfrm>
          <a:prstGeom prst="rightArrow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98739" y="214884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Embed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Text to
vectors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9332059" y="2569464"/>
            <a:ext cx="140817" cy="164592"/>
          </a:xfrm>
          <a:prstGeom prst="rightArrow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3052" y="214884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Index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Store in a
vector DB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1082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32"/>
                </a:solidFill>
                <a:latin typeface="Segoe UI"/>
              </a:rPr>
              <a:t>RETRIEVAL — ONLINE, RUNS ON EVERY SINGLE QUESTION</a:t>
            </a:r>
            <a:endParaRPr sz="1100" b="1">
              <a:solidFill>
                <a:srgbClr val="2E7D32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Embed query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Same model
as ingestion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2719120" y="4261104"/>
            <a:ext cx="140817" cy="164592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90113" y="384048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Search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Nearest
neighbours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4923433" y="4261104"/>
            <a:ext cx="140817" cy="164592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94426" y="384048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Assemble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Build labelled
context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7127746" y="4261104"/>
            <a:ext cx="140817" cy="164592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98739" y="384048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Generate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LLM answers
from context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9332059" y="4261104"/>
            <a:ext cx="140817" cy="164592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03052" y="3840480"/>
            <a:ext cx="2003145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Process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Parse, validate,
cite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85800" y="5029200"/>
            <a:ext cx="10820400" cy="62179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FFC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91440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041E42"/>
                </a:solidFill>
                <a:latin typeface="Segoe UI"/>
              </a:rPr>
              <a:t>• The one rule: </a:t>
            </a:r>
            <a:r>
              <a:rPr sz="1300">
                <a:solidFill>
                  <a:srgbClr val="5A5A5A"/>
                </a:solidFill>
                <a:latin typeface="Segoe UI"/>
              </a:rPr>
              <a:t>the same embedding model must be used on both sides. Different models put meaning in different places.</a:t>
            </a:r>
            <a:endParaRPr sz="13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6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02 · BUILDING BLOCKS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Ingestion: the decisions that matter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Most RAG quality problems are decided here, long before a question is asked.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377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STEP 1
</a:t>
            </a:r>
            <a:r>
              <a:rPr sz="1500" b="1">
                <a:solidFill>
                  <a:srgbClr val="041E42"/>
                </a:solidFill>
                <a:latin typeface="Segoe UI"/>
              </a:rPr>
              <a:t>Load and enrich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Capture metadata at load time: source, title, section, date, access level. Citations and permission filters both depend on it, and backfilling it later is miserable.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00400" y="1691640"/>
            <a:ext cx="2377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STEP 2
</a:t>
            </a:r>
            <a:r>
              <a:rPr sz="1500" b="1">
                <a:solidFill>
                  <a:srgbClr val="041E42"/>
                </a:solidFill>
                <a:latin typeface="Segoe UI"/>
              </a:rPr>
              <a:t>Chunk with overlap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Too large and the vector means nothing in particular. Too small and the passage loses context. 300-800 characters with 10-20% overlap is a sane starting point.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15000" y="1691640"/>
            <a:ext cx="2377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STEP 3
</a:t>
            </a:r>
            <a:r>
              <a:rPr sz="1500" b="1">
                <a:solidFill>
                  <a:srgbClr val="041E42"/>
                </a:solidFill>
                <a:latin typeface="Segoe UI"/>
              </a:rPr>
              <a:t>Embed consistently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The embedding model defines your notion of similarity. Small and local is usually enough for retrieval. Changing it means re-indexing everything.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0" y="1691640"/>
            <a:ext cx="2377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STEP 4
</a:t>
            </a:r>
            <a:r>
              <a:rPr sz="1500" b="1">
                <a:solidFill>
                  <a:srgbClr val="041E42"/>
                </a:solidFill>
                <a:latin typeface="Segoe UI"/>
              </a:rPr>
              <a:t>Index for scale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FAISS in memory for thousands of chunks. A managed vector database when you need filtering, replication, and incremental updates.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4800600"/>
            <a:ext cx="10820400" cy="77724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l">
              <a:lnSpc>
                <a:spcPct val="114000"/>
              </a:lnSpc>
            </a:pPr>
            <a:r>
              <a:rPr lang="en-US" sz="1100">
                <a:solidFill>
                  <a:srgbClr val="FFFFFF"/>
                </a:solidFill>
                <a:latin typeface="Consolas"/>
              </a:rPr>
              <a:t>    </a:t>
            </a:r>
            <a:r>
              <a:rPr sz="1100">
                <a:solidFill>
                  <a:srgbClr val="FFFFFF"/>
                </a:solidFill>
                <a:latin typeface="Consolas"/>
              </a:rPr>
              <a:t>splitter = RecursiveCharacterTextSplitter(chunk_size=600, chunk_overlap=100,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separators=["\n## ", "\n\n", "\n", ". ", " "])  # natural breaks first</a:t>
            </a:r>
            <a:endParaRPr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7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03 · HANDS-ON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What we are building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A complete RAG system over three synthetic policy documents.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484632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41E42"/>
                </a:solidFill>
                <a:latin typeface="Segoe UI"/>
              </a:rPr>
              <a:t>• </a:t>
            </a:r>
            <a:endParaRPr sz="1400" b="0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41E42"/>
                </a:solidFill>
                <a:latin typeface="Segoe UI"/>
              </a:rPr>
              <a:t>• LangChain — </a:t>
            </a:r>
            <a:r>
              <a:rPr sz="1400">
                <a:solidFill>
                  <a:srgbClr val="5A5A5A"/>
                </a:solidFill>
                <a:latin typeface="Segoe UI"/>
              </a:rPr>
              <a:t>loaders, splitters, prompts, model interface</a:t>
            </a:r>
            <a:endParaRPr sz="140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41E42"/>
                </a:solidFill>
                <a:latin typeface="Segoe UI"/>
              </a:rPr>
              <a:t>• MiniLM-L6-v2 — </a:t>
            </a:r>
            <a:r>
              <a:rPr sz="1400">
                <a:solidFill>
                  <a:srgbClr val="5A5A5A"/>
                </a:solidFill>
                <a:latin typeface="Segoe UI"/>
              </a:rPr>
              <a:t>local embeddings, 384 dimensions, free</a:t>
            </a:r>
            <a:endParaRPr sz="140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41E42"/>
                </a:solidFill>
                <a:latin typeface="Segoe UI"/>
              </a:rPr>
              <a:t>• FAISS — </a:t>
            </a:r>
            <a:r>
              <a:rPr sz="1400">
                <a:solidFill>
                  <a:srgbClr val="5A5A5A"/>
                </a:solidFill>
                <a:latin typeface="Segoe UI"/>
              </a:rPr>
              <a:t>in-memory vector index, no server needed</a:t>
            </a:r>
            <a:endParaRPr sz="140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1">
                <a:solidFill>
                  <a:srgbClr val="041E42"/>
                </a:solidFill>
                <a:latin typeface="Segoe UI"/>
              </a:rPr>
              <a:t>• Gemini 3.5 Flash Lite — </a:t>
            </a:r>
            <a:r>
              <a:rPr sz="1400">
                <a:solidFill>
                  <a:srgbClr val="5A5A5A"/>
                </a:solidFill>
                <a:latin typeface="Segoe UI"/>
              </a:rPr>
              <a:t>fast, cheap, hosted generation</a:t>
            </a:r>
            <a:endParaRPr sz="14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THE STACK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452628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50" b="0">
                <a:solidFill>
                  <a:srgbClr val="041E42"/>
                </a:solidFill>
                <a:latin typeface="Segoe UI"/>
              </a:rPr>
              <a:t>• </a:t>
            </a:r>
            <a:endParaRPr sz="1350" b="0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041E42"/>
                </a:solidFill>
                <a:latin typeface="Segoe UI"/>
              </a:rPr>
              <a:t>• returns_policy.md — </a:t>
            </a:r>
            <a:r>
              <a:rPr sz="1350">
                <a:solidFill>
                  <a:srgbClr val="5A5A5A"/>
                </a:solidFill>
                <a:latin typeface="Segoe UI"/>
              </a:rPr>
              <a:t>windows, refunds, restocking fees</a:t>
            </a:r>
            <a:endParaRPr sz="135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041E42"/>
                </a:solidFill>
                <a:latin typeface="Segoe UI"/>
              </a:rPr>
              <a:t>• shipping_policy.md — </a:t>
            </a:r>
            <a:r>
              <a:rPr sz="1350">
                <a:solidFill>
                  <a:srgbClr val="5A5A5A"/>
                </a:solidFill>
                <a:latin typeface="Segoe UI"/>
              </a:rPr>
              <a:t>delivery speeds, pickup, restrictions</a:t>
            </a:r>
            <a:endParaRPr sz="135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041E42"/>
                </a:solidFill>
                <a:latin typeface="Segoe UI"/>
              </a:rPr>
              <a:t>• warranty_policy.md — </a:t>
            </a:r>
            <a:r>
              <a:rPr sz="1350">
                <a:solidFill>
                  <a:srgbClr val="5A5A5A"/>
                </a:solidFill>
                <a:latin typeface="Segoe UI"/>
              </a:rPr>
              <a:t>coverage, plans, claims</a:t>
            </a:r>
            <a:endParaRPr sz="135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041E42"/>
                </a:solidFill>
                <a:latin typeface="Segoe UI"/>
              </a:rPr>
              <a:t>• Why overlap? </a:t>
            </a:r>
            <a:r>
              <a:rPr sz="1350">
                <a:solidFill>
                  <a:srgbClr val="5A5A5A"/>
                </a:solidFill>
                <a:latin typeface="Segoe UI"/>
              </a:rPr>
              <a:t>Returns and warranty both mention 30-day windows, for different things. Retrieval must discriminate.</a:t>
            </a:r>
            <a:endParaRPr sz="13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63640" y="184708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THE CORPUS — DELIBERATELY OVERLAPPING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5010912"/>
            <a:ext cx="10820400" cy="65836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FFC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91440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041E42"/>
                </a:solidFill>
                <a:latin typeface="Segoe UI"/>
              </a:rPr>
              <a:t>• Open </a:t>
            </a:r>
            <a:r>
              <a:rPr sz="1300">
                <a:solidFill>
                  <a:srgbClr val="5A5A5A"/>
                </a:solidFill>
                <a:latin typeface="Segoe UI"/>
              </a:rPr>
              <a:t>simple_rag_demo.ipynb and select the 'Python (RAG Workshop)' kernel. Get a free API key at aistudio.google.com/apikey.</a:t>
            </a:r>
            <a:endParaRPr sz="13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9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02 · BUILDING BLOCKS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Retrieval: from question to grounded answer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Four steps run on every request. Each one can be measured, and each one can fail.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8203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626"/>
                <a:gridCol w="4704521"/>
                <a:gridCol w="4077252"/>
              </a:tblGrid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  <a:endParaRPr sz="120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happens</a:t>
                      </a:r>
                      <a:endParaRPr sz="120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can go wrong</a:t>
                      </a:r>
                      <a:endParaRPr sz="120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41E42"/>
                          </a:solidFill>
                          <a:latin typeface="Segoe UI"/>
                        </a:rPr>
                        <a:t>Embed query</a:t>
                      </a:r>
                      <a:endParaRPr sz="120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The question becomes a vector using the same model as ingestion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A short or vague query embeds poorly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41E42"/>
                          </a:solidFill>
                          <a:latin typeface="Segoe UI"/>
                        </a:rPr>
                        <a:t>Search</a:t>
                      </a:r>
                      <a:endParaRPr sz="120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Find the k nearest chunks by vector distance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k too small starves the answer; too large adds noise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41E42"/>
                          </a:solidFill>
                          <a:latin typeface="Segoe UI"/>
                        </a:rPr>
                        <a:t>Assemble</a:t>
                      </a:r>
                      <a:endParaRPr sz="120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Format chunks into a numbered, citable context block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Unlabelled context means the model cannot cite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41E42"/>
                          </a:solidFill>
                          <a:latin typeface="Segoe UI"/>
                        </a:rPr>
                        <a:t>Generate</a:t>
                      </a:r>
                      <a:endParaRPr sz="120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The LLM answers strictly from the supplied context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A weak prompt lets the model fall back on memory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41E42"/>
                          </a:solidFill>
                          <a:latin typeface="Segoe UI"/>
                        </a:rPr>
                        <a:t>Process</a:t>
                      </a:r>
                      <a:endParaRPr sz="120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Parse, validate citations, attach sources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041E42"/>
                          </a:solidFill>
                          <a:latin typeface="Segoe UI"/>
                        </a:rPr>
                        <a:t>Skipping this ships raw, unverified model output</a:t>
                      </a:r>
                      <a:endParaRPr sz="120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800600"/>
            <a:ext cx="10820400" cy="8686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007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041E42"/>
                </a:solidFill>
                <a:latin typeface="Segoe UI"/>
              </a:rPr>
              <a:t>• Measure the two halves separately. </a:t>
            </a:r>
            <a:r>
              <a:rPr sz="1300">
                <a:solidFill>
                  <a:srgbClr val="5A5A5A"/>
                </a:solidFill>
                <a:latin typeface="Segoe UI"/>
              </a:rPr>
              <a:t>Retrieval sets the ceiling — if the right chunk never reaches the prompt, no amount of prompt engineering will rescue the answer.</a:t>
            </a:r>
            <a:endParaRPr sz="13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8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03 · HANDS-ON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Retrieve, and refuse when you should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A relevance floor is the difference between a demo and a system you would deploy.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733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RETRIEVE WITH A READABLE SCORE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def retrieve(question, k=4):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hits = store.similarity_search_with_score(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question, k=k)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return [{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"rank": rank,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"title": doc.metadata["title"],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"text": doc.page_content,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        # distance is lower-is-better; flip it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"relevance": 1 / (1 + distance),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} for rank, (doc, distance) in enumerate(hits, 1)]</a:t>
            </a:r>
            <a:endParaRPr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89320" y="167335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THE FLOOR · BAIL OUT BEFORE THE LLM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4526280" cy="228600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RELEVANCE_FLOOR = 0.30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hits = retrieve(question)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Refusing is cheaper than hallucinating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if not hits or hits[0]["relevance"] &lt; FLOOR: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return "I don't know based on the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    available policy documents."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context = build_context(hits)   # [1] [2] [3]</a:t>
            </a:r>
            <a:endParaRPr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4572000"/>
            <a:ext cx="10820400" cy="107899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FFC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46304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041E42"/>
                </a:solidFill>
                <a:latin typeface="Segoe UI"/>
              </a:rPr>
              <a:t>• Number the passages. </a:t>
            </a:r>
            <a:r>
              <a:rPr sz="1250">
                <a:solidFill>
                  <a:srgbClr val="5A5A5A"/>
                </a:solidFill>
                <a:latin typeface="Segoe UI"/>
              </a:rPr>
              <a:t>Labelling context as [1], [2], [3] gives the model a vocabulary for citing sources — which makes citation validation possible later.</a:t>
            </a:r>
            <a:endParaRPr sz="125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041E42"/>
                </a:solidFill>
                <a:latin typeface="Segoe UI"/>
              </a:rPr>
              <a:t>• Refusal is a feature. </a:t>
            </a:r>
            <a:r>
              <a:rPr sz="1250">
                <a:solidFill>
                  <a:srgbClr val="5A5A5A"/>
                </a:solidFill>
                <a:latin typeface="Segoe UI"/>
              </a:rPr>
              <a:t>A system that never says 'I don't know' is not confident, it is unreliable.</a:t>
            </a:r>
            <a:endParaRPr sz="12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11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03 · HANDS-ON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Build the index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Load, chunk, embed, index — the whole ingestion pipeline in four cells.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733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CELL 1 · LOAD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846320" cy="160020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l"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1. Load, and enrich the metadata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loader = DirectoryLoader(DATA_DIR, glob="*.md",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                 loader_cls=TextLoader)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documents = loader.load()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for doc in documents: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doc.metadata["title"] = nice_title(doc)</a:t>
            </a:r>
            <a:endParaRPr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89320" y="167335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CELL 2 · CHUNK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4526280" cy="160020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l"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2. Chunk on natural boundaries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splitter = RecursiveCharacterTextSplitter(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chunk_size=600, chunk_overlap=100,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separators=["\n## ", "\n\n", "\n", ". ", " "])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chunks = splitter.split_documents(documents)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3 documents -&gt; 23 chunks</a:t>
            </a:r>
            <a:endParaRPr sz="1100">
              <a:solidFill>
                <a:srgbClr val="FFC220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8221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CELL 3 · EMBED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411480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l"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3. Embed locally - the corpus stays put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embeddings = HuggingFaceEmbeddings(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model_name="sentence-transformers/all-MiniLM-L6-v2",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encode_kwargs={"normalize_embeddings": True})</a:t>
            </a:r>
            <a:endParaRPr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89320" y="382219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CELL 4 · INDEX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89320" y="4114800"/>
            <a:ext cx="4526280" cy="137160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l"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4. Index, and persist to disk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store = FAISS.from_documents(chunks, embeddings)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store.save_local("faiss_index")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23 vectors, 384 dimensions each</a:t>
            </a:r>
            <a:endParaRPr sz="1100">
              <a:solidFill>
                <a:srgbClr val="FFC220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10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03 · HANDS-ON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The prompt is the contract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Three jobs: scope the model, license ignorance, demand citations.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7335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THE SYSTEM PROMPT, AND THE CHAIN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l"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system = '''You are a company policy assistant.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Answer strictly from the numbered context passages.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1. Use only facts present in the context.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Never use outside knowledge.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2. If the context lacks the answer, reply exactly: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I don't know based on the available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policy documents.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3. Cite the passage numbers you used, e.g. [1] or [2].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4. Be concise. Quote exact figures, fees, timeframes.'''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LCEL: prompt -&gt; model -&gt; plain string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chain = RAG_PROMPT | llm | StrOutputParser()</a:t>
            </a:r>
            <a:endParaRPr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37960" y="1901952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41E42"/>
                </a:solidFill>
                <a:latin typeface="Segoe UI"/>
              </a:rPr>
              <a:t>Scope it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Stops the model blending training memory with your documents.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37960" y="2871216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41E42"/>
                </a:solidFill>
                <a:latin typeface="Segoe UI"/>
              </a:rPr>
              <a:t>License ignorance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Without an escape hatch, the model invents something plausible.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37960" y="3840480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41E42"/>
                </a:solidFill>
                <a:latin typeface="Segoe UI"/>
              </a:rPr>
              <a:t>Demand citations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Passage numbers make claims checkable in code.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37960" y="4809744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41E42"/>
                </a:solidFill>
                <a:latin typeface="Segoe UI"/>
              </a:rPr>
              <a:t>Pipe it together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LCEL chains prompt, model, and parser into one callable.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5166360"/>
            <a:ext cx="5344795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FFC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54864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041E42"/>
                </a:solidFill>
                <a:latin typeface="Segoe UI"/>
              </a:rPr>
              <a:t>• temperature=0. </a:t>
            </a:r>
            <a:r>
              <a:rPr sz="1300">
                <a:solidFill>
                  <a:srgbClr val="5A5A5A"/>
                </a:solidFill>
                <a:latin typeface="Segoe UI"/>
              </a:rPr>
              <a:t>Creativity is a bug in a policy assistant.</a:t>
            </a:r>
            <a:endParaRPr sz="13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12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03 · HANDS-ON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Verify before you return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StrOutputParser gives you a string. Two checks turn it into an answer with provenance.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003145" cy="9144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Chain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prompt | llm |
StrOutputParser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2719120" y="2203704"/>
            <a:ext cx="140817" cy="164592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90113" y="1828800"/>
            <a:ext cx="2003145" cy="9144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Extract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Pull [1] [2]
from the text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923433" y="2203704"/>
            <a:ext cx="140817" cy="164592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94426" y="1828800"/>
            <a:ext cx="2003145" cy="9144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Validate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Drop citations
that don't exist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7127746" y="2203704"/>
            <a:ext cx="140817" cy="164592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98739" y="1828800"/>
            <a:ext cx="2003145" cy="9144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Attach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Map numbers to
real sources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9332059" y="2203704"/>
            <a:ext cx="140817" cy="164592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03052" y="1828800"/>
            <a:ext cx="2003145" cy="9144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8016" rtlCol="0" anchor="ctr"/>
          <a:lstStyle/>
          <a:p>
            <a:pPr algn="ctr"/>
            <a:r>
              <a:rPr sz="1300" b="1">
                <a:solidFill>
                  <a:srgbClr val="041E42"/>
                </a:solidFill>
                <a:latin typeface="Segoe UI"/>
              </a:rPr>
              <a:t>Flag</a:t>
            </a:r>
            <a:endParaRPr sz="1300" b="1">
              <a:solidFill>
                <a:srgbClr val="041E4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050">
                <a:solidFill>
                  <a:srgbClr val="5A5A5A"/>
                </a:solidFill>
                <a:latin typeface="Segoe UI"/>
              </a:rPr>
              <a:t>No citations
means ungrounded</a:t>
            </a:r>
            <a:endParaRPr sz="10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277063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VERIFY WHAT THE MODEL CLAIMS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" y="3063240"/>
            <a:ext cx="5852160" cy="228600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l"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def attach_sources(answer, hits):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    # Pull [1], [2] markers out of the answer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cited = {int(n) for n in re.findall(r"\[(\d+)\]", answer)}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    # Keep only citations we actually supplied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sources = [h for h in hits if h["rank"] in cited]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return {"answer": answer.strip(),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    "sources": sources,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    "grounded": bool(sources)}</a:t>
            </a:r>
            <a:endParaRPr sz="11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040880" y="3200400"/>
            <a:ext cx="3474720" cy="21920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64592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041E42"/>
                </a:solidFill>
                <a:latin typeface="Segoe UI"/>
              </a:rPr>
              <a:t>• Models cite [7] </a:t>
            </a:r>
            <a:r>
              <a:rPr sz="1250">
                <a:solidFill>
                  <a:srgbClr val="5A5A5A"/>
                </a:solidFill>
                <a:latin typeface="Segoe UI"/>
              </a:rPr>
              <a:t>given four passages.</a:t>
            </a:r>
            <a:endParaRPr sz="125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041E42"/>
                </a:solidFill>
                <a:latin typeface="Segoe UI"/>
              </a:rPr>
              <a:t>• A citation </a:t>
            </a:r>
            <a:r>
              <a:rPr sz="1250">
                <a:solidFill>
                  <a:srgbClr val="5A5A5A"/>
                </a:solidFill>
                <a:latin typeface="Segoe UI"/>
              </a:rPr>
              <a:t>is only useful if it resolves.</a:t>
            </a:r>
            <a:endParaRPr sz="125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041E42"/>
                </a:solidFill>
                <a:latin typeface="Segoe UI"/>
              </a:rPr>
              <a:t>• No citation </a:t>
            </a:r>
            <a:r>
              <a:rPr sz="1250">
                <a:solidFill>
                  <a:srgbClr val="5A5A5A"/>
                </a:solidFill>
                <a:latin typeface="Segoe UI"/>
              </a:rPr>
              <a:t>is your cheapest hallucination alarm.</a:t>
            </a:r>
            <a:endParaRPr sz="125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041E42"/>
                </a:solidFill>
                <a:latin typeface="Segoe UI"/>
              </a:rPr>
              <a:t>• Keep it small: </a:t>
            </a:r>
            <a:r>
              <a:rPr sz="1250">
                <a:solidFill>
                  <a:srgbClr val="5A5A5A"/>
                </a:solidFill>
                <a:latin typeface="Segoe UI"/>
              </a:rPr>
              <a:t>no bespoke parser needed.</a:t>
            </a:r>
            <a:endParaRPr sz="12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6948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WHY BOTHER?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13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03 · HANDS-ON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Measure it, or you are guessing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'It looked good in the demo' is not a quality bar.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4846320" cy="3218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tlCol="0" anchor="ctr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041E42"/>
                </a:solidFill>
                <a:latin typeface="Segoe UI"/>
              </a:rPr>
              <a:t>• Retrieval hit rate — </a:t>
            </a:r>
            <a:r>
              <a:rPr sz="1350">
                <a:solidFill>
                  <a:srgbClr val="5A5A5A"/>
                </a:solidFill>
                <a:latin typeface="Segoe UI"/>
              </a:rPr>
              <a:t>did the correct document reach the context? This sets the ceiling for everything after it.</a:t>
            </a:r>
            <a:br>
              <a:rPr sz="1350">
                <a:solidFill>
                  <a:srgbClr val="5A5A5A"/>
                </a:solidFill>
                <a:latin typeface="Segoe UI"/>
              </a:rPr>
            </a:br>
            <a:r>
              <a:rPr sz="1350" b="1">
                <a:solidFill>
                  <a:srgbClr val="041E42"/>
                </a:solidFill>
                <a:latin typeface="Segoe UI"/>
              </a:rPr>
              <a:t>• Answer accuracy — </a:t>
            </a:r>
            <a:r>
              <a:rPr sz="1350">
                <a:solidFill>
                  <a:srgbClr val="5A5A5A"/>
                </a:solidFill>
                <a:latin typeface="Segoe UI"/>
              </a:rPr>
              <a:t>did the expected fact appear in the final answer?</a:t>
            </a:r>
            <a:endParaRPr sz="135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041E42"/>
                </a:solidFill>
                <a:latin typeface="Segoe UI"/>
              </a:rPr>
              <a:t>• Refusal rate — </a:t>
            </a:r>
            <a:r>
              <a:rPr sz="1350">
                <a:solidFill>
                  <a:srgbClr val="5A5A5A"/>
                </a:solidFill>
                <a:latin typeface="Segoe UI"/>
              </a:rPr>
              <a:t>does it decline when it should?</a:t>
            </a:r>
            <a:endParaRPr sz="1350">
              <a:solidFill>
                <a:srgbClr val="5A5A5A"/>
              </a:solidFill>
              <a:latin typeface="Segoe UI"/>
            </a:endParaRP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041E42"/>
                </a:solidFill>
                <a:latin typeface="Segoe UI"/>
              </a:rPr>
              <a:t>• Why separate? </a:t>
            </a:r>
            <a:r>
              <a:rPr sz="1350">
                <a:solidFill>
                  <a:srgbClr val="5A5A5A"/>
                </a:solidFill>
                <a:latin typeface="Segoe UI"/>
              </a:rPr>
              <a:t>They fail for different reasons, and have different fixes.</a:t>
            </a:r>
            <a:endParaRPr sz="13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MEASURE THE TWO HALVES SEPARATELY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89320" y="139903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A GOLDEN SET · START WITH TEN QUESTIONS</a:t>
            </a:r>
            <a:endParaRPr sz="11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89320" y="1691640"/>
            <a:ext cx="4526280" cy="3108960"/>
          </a:xfrm>
          <a:prstGeom prst="roundRect">
            <a:avLst>
              <a:gd name="adj" fmla="val 6000"/>
            </a:avLst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l"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golden_set = [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{"q": "How long are pickup orders held?",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"doc": "Shipping Policy", "must_contain": "7"},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{"q": "Return window for prepaid phones?",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"doc": "Returns Policy", "must_contain": "14"},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{"q": "How many repairs before replacement?",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"doc": "Warranty Policy", "must_contain": "three"},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]</a:t>
            </a:r>
            <a:endParaRPr sz="110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Even four questions catch a regression when</a:t>
            </a:r>
            <a:endParaRPr sz="1100">
              <a:solidFill>
                <a:srgbClr val="FFC220"/>
              </a:solidFill>
              <a:latin typeface="Consolas"/>
            </a:endParaRPr>
          </a:p>
          <a:p>
            <a:pPr>
              <a:lnSpc>
                <a:spcPct val="114000"/>
              </a:lnSpc>
            </a:pPr>
            <a:r>
              <a:rPr sz="1100">
                <a:solidFill>
                  <a:srgbClr val="FFC220"/>
                </a:solidFill>
                <a:latin typeface="Consolas"/>
              </a:rPr>
              <a:t># you change chunk_size, k, or the model.</a:t>
            </a:r>
            <a:endParaRPr sz="1100">
              <a:solidFill>
                <a:srgbClr val="FFC220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5047488"/>
            <a:ext cx="10820400" cy="62179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FFC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91440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041E42"/>
                </a:solidFill>
                <a:latin typeface="Segoe UI"/>
              </a:rPr>
              <a:t>• Write the golden set before you start tuning. </a:t>
            </a:r>
            <a:r>
              <a:rPr sz="1300">
                <a:solidFill>
                  <a:srgbClr val="5A5A5A"/>
                </a:solidFill>
                <a:latin typeface="Segoe UI"/>
              </a:rPr>
              <a:t>Otherwise every change feels like an improvement.</a:t>
            </a:r>
            <a:endParaRPr sz="13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14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04 · ADVANCED RAG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Where the simple pipeline breaks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Naive RAG works, and it will disappoint you in entirely predictable ways.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8203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234"/>
                <a:gridCol w="4637314"/>
                <a:gridCol w="3709851"/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Limitation</a:t>
                      </a:r>
                      <a:endParaRPr sz="115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it looks like in practice</a:t>
                      </a:r>
                      <a:endParaRPr sz="115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Root cause</a:t>
                      </a:r>
                      <a:endParaRPr sz="115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Vocabulary mismatch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Exact codes like POL-RET-004 or SKU numbers are missed entirely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Embeddings capture meaning, not exact strings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Fixed k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Simple questions get noise; comparison questions get starved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One k cannot suit every question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Chunk boundaries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A table or clause split down the middle loses its meaning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Character splitting ignores document structure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No query understanding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'What about that one?' retrieves nothing useful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The raw question is embedded as-is, with no history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Single-hop only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Cannot combine facts scattered across many documents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One retrieval pass, one shot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Similarity is not relevance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Top-4 by distance is not top-4 by usefulness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Bi-encoders are fast but approximate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Stale index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A document was edited; the index has no idea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Ingestion ran once, offline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029200"/>
            <a:ext cx="10820400" cy="6400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73152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041E42"/>
                </a:solidFill>
                <a:latin typeface="Segoe UI"/>
              </a:rPr>
              <a:t>• Diagnose before you fix. </a:t>
            </a:r>
            <a:r>
              <a:rPr sz="1300">
                <a:solidFill>
                  <a:srgbClr val="5A5A5A"/>
                </a:solidFill>
                <a:latin typeface="Segoe UI"/>
              </a:rPr>
              <a:t>Check whether the correct chunk was retrieved. If not, no prompt engineering will save the answer.</a:t>
            </a:r>
            <a:endParaRPr sz="13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15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04 · ADVANCED RAG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Enhancements, in order of payoff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Each fixes a specific limitation. Add one at a time, and measure after each.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FIX 1 · HIGHEST PAYOFF
</a:t>
            </a:r>
            <a:r>
              <a:rPr sz="1500" b="1">
                <a:solidFill>
                  <a:srgbClr val="041E42"/>
                </a:solidFill>
                <a:latin typeface="Segoe UI"/>
              </a:rPr>
              <a:t>Hybrid search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Run BM25 keyword search alongside vector search and fuse the results. Recovers exact codes and SKUs embeddings miss.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41648" y="16916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FIX 2
</a:t>
            </a:r>
            <a:r>
              <a:rPr sz="1500" b="1">
                <a:solidFill>
                  <a:srgbClr val="041E42"/>
                </a:solidFill>
                <a:latin typeface="Segoe UI"/>
              </a:rPr>
              <a:t>Reranking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Retrieve 20 candidates fast, reorder with a cross-encoder, keep the top 4. Turns similarity into relevance.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97496" y="16916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FIX 3
</a:t>
            </a:r>
            <a:r>
              <a:rPr sz="1500" b="1">
                <a:solidFill>
                  <a:srgbClr val="041E42"/>
                </a:solidFill>
                <a:latin typeface="Segoe UI"/>
              </a:rPr>
              <a:t>Query rewriting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Expand or disambiguate the question before retrieval: resolve pronouns, add synonyms, split compound questions.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3529584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FIX 4
</a:t>
            </a:r>
            <a:r>
              <a:rPr sz="1500" b="1">
                <a:solidFill>
                  <a:srgbClr val="041E42"/>
                </a:solidFill>
                <a:latin typeface="Segoe UI"/>
              </a:rPr>
              <a:t>Structure-aware chunking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Split on headings and keep tables whole. Attach parent-section context so a fragment knows where it lives.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41648" y="3529584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FIX 5
</a:t>
            </a:r>
            <a:r>
              <a:rPr sz="1500" b="1">
                <a:solidFill>
                  <a:srgbClr val="041E42"/>
                </a:solidFill>
                <a:latin typeface="Segoe UI"/>
              </a:rPr>
              <a:t>Metadata filtering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Filter by department, date, or access level before the vector search. This is how RAG becomes permission-aware.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97496" y="3529584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FIX 6 · MOST COMPLEX
</a:t>
            </a:r>
            <a:r>
              <a:rPr sz="1500" b="1">
                <a:solidFill>
                  <a:srgbClr val="041E42"/>
                </a:solidFill>
                <a:latin typeface="Segoe UI"/>
              </a:rPr>
              <a:t>Agentic / multi-hop RAG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Let the model plan several retrieval steps and search again. Powerful, slower, harder to debug. Reach for it last.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16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04 · ADVANCED RAG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Symptom to fix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2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Segoe UI"/>
              </a:rPr>
              <a:t>Use this as a debugging table when quality disappoints.</a:t>
            </a:r>
            <a:endParaRPr sz="15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8203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274"/>
                <a:gridCol w="3400697"/>
                <a:gridCol w="3864428"/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Symptom you observe</a:t>
                      </a:r>
                      <a:endParaRPr sz="115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Most likely cause</a:t>
                      </a:r>
                      <a:endParaRPr sz="115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Try this first</a:t>
                      </a:r>
                      <a:endParaRPr sz="1150" b="1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041E4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Right document, wrong passage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Chunking is too coarse or too fine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Tune chunk size; add reranking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Exact code or name not found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Pure vector search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Add BM25 hybrid retrieval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Answer is correct but incomplete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k is too small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Raise k, then rerank down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Model contradicts the source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Weak prompt constraints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Tighten the prompt; drop temperature to 0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Confidently wrong on missing topics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No refusal path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Add a relevance floor and an explicit escape hatch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Follow-up questions fail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No conversation context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Add query rewriting with chat history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2F6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1E42"/>
                          </a:solidFill>
                          <a:latin typeface="Segoe UI"/>
                        </a:rPr>
                        <a:t>Slow responses</a:t>
                      </a:r>
                      <a:endParaRPr sz="1150" b="1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Reranking or a large k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041E42"/>
                          </a:solidFill>
                          <a:latin typeface="Segoe UI"/>
                        </a:rPr>
                        <a:t>Cache embeddings; shrink the candidate pool</a:t>
                      </a:r>
                      <a:endParaRPr sz="1150" b="0">
                        <a:solidFill>
                          <a:srgbClr val="041E42"/>
                        </a:solidFill>
                        <a:latin typeface="Segoe U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029200"/>
            <a:ext cx="10820400" cy="6400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73152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00" b="1">
                <a:solidFill>
                  <a:srgbClr val="041E42"/>
                </a:solidFill>
                <a:latin typeface="Segoe UI"/>
              </a:rPr>
              <a:t>• Change one thing at a time, </a:t>
            </a:r>
            <a:r>
              <a:rPr sz="1300">
                <a:solidFill>
                  <a:srgbClr val="5A5A5A"/>
                </a:solidFill>
                <a:latin typeface="Segoe UI"/>
              </a:rPr>
              <a:t>and re-run the golden set. Otherwise you are not tuning, you are just stirring.</a:t>
            </a:r>
            <a:endParaRPr sz="13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17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1CE"/>
                </a:solidFill>
                <a:latin typeface="Segoe UI"/>
              </a:rPr>
              <a:t>WRAP-UP</a:t>
            </a:r>
            <a:endParaRPr sz="1200" b="1">
              <a:solidFill>
                <a:srgbClr val="0071CE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E42"/>
                </a:solidFill>
                <a:latin typeface="Segoe UI"/>
              </a:rPr>
              <a:t>Five things to take back</a:t>
            </a:r>
            <a:endParaRPr sz="3000" b="1">
              <a:solidFill>
                <a:srgbClr val="041E42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82296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874519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01
</a:t>
            </a:r>
            <a:r>
              <a:rPr sz="1500" b="1">
                <a:solidFill>
                  <a:srgbClr val="041E42"/>
                </a:solidFill>
                <a:latin typeface="Segoe UI"/>
              </a:rPr>
              <a:t>Retrieval sets the ceiling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If the right chunk never reaches the prompt, no model and no prompt will rescue the answer. Debug retrieval first, always.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688335" y="1691640"/>
            <a:ext cx="1874519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02
</a:t>
            </a:r>
            <a:r>
              <a:rPr sz="1500" b="1">
                <a:solidFill>
                  <a:srgbClr val="041E42"/>
                </a:solidFill>
                <a:latin typeface="Segoe UI"/>
              </a:rPr>
              <a:t>Metadata from day one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Citations, filtering, and access control all depend on it. Backfilling metadata after indexing is genuinely painful.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90870" y="1691640"/>
            <a:ext cx="1874519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03
</a:t>
            </a:r>
            <a:r>
              <a:rPr sz="1500" b="1">
                <a:solidFill>
                  <a:srgbClr val="041E42"/>
                </a:solidFill>
                <a:latin typeface="Segoe UI"/>
              </a:rPr>
              <a:t>Let the system refuse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'I don't know' is a valid, valuable answer. A relevance floor and an explicit escape hatch cost almost nothing to add.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93405" y="1691640"/>
            <a:ext cx="1874519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04
</a:t>
            </a:r>
            <a:r>
              <a:rPr sz="1500" b="1">
                <a:solidFill>
                  <a:srgbClr val="041E42"/>
                </a:solidFill>
                <a:latin typeface="Segoe UI"/>
              </a:rPr>
              <a:t>Never ship raw model output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Parse it, validate the citations, attach real sources. This is the step that separates a demo from a system.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95940" y="1691640"/>
            <a:ext cx="1874519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t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71CE"/>
                </a:solidFill>
                <a:latin typeface="Segoe UI"/>
              </a:rPr>
              <a:t>05
</a:t>
            </a:r>
            <a:r>
              <a:rPr sz="1500" b="1">
                <a:solidFill>
                  <a:srgbClr val="041E42"/>
                </a:solidFill>
                <a:latin typeface="Segoe UI"/>
              </a:rPr>
              <a:t>Measure before you tune</a:t>
            </a:r>
            <a:endParaRPr sz="1500" b="1">
              <a:solidFill>
                <a:srgbClr val="041E42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00">
                <a:solidFill>
                  <a:srgbClr val="5A5A5A"/>
                </a:solidFill>
                <a:latin typeface="Segoe UI"/>
              </a:rPr>
              <a:t>Ten golden questions written by a domain expert will tell you more than a month of adjusting things by feel.</a:t>
            </a:r>
            <a:endParaRPr sz="120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4892040"/>
            <a:ext cx="10820400" cy="7772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FFC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tlCol="0" anchor="ctr"/>
          <a:lstStyle/>
          <a:p>
            <a:pPr algn="ctr">
              <a:lnSpc>
                <a:spcPct val="125000"/>
              </a:lnSpc>
              <a:spcAft>
                <a:spcPts val="700"/>
              </a:spcAft>
            </a:pPr>
            <a:r>
              <a:rPr sz="1350" b="1">
                <a:solidFill>
                  <a:srgbClr val="041E42"/>
                </a:solidFill>
                <a:latin typeface="Segoe UI"/>
              </a:rPr>
              <a:t>• Next step: </a:t>
            </a:r>
            <a:r>
              <a:rPr sz="1350">
                <a:solidFill>
                  <a:srgbClr val="5A5A5A"/>
                </a:solidFill>
                <a:latin typeface="Segoe UI"/>
              </a:rPr>
              <a:t>run simple_rag_demo.ipynb end to end, then swap in your own documents. Start with hybrid search when quality disappoints</a:t>
            </a:r>
            <a:endParaRPr sz="135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RAG Workshop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44200" y="6172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5A5A"/>
                </a:solidFill>
                <a:latin typeface="Segoe UI"/>
              </a:rPr>
              <a:t>18</a:t>
            </a:r>
            <a:endParaRPr sz="1000" b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14725</Words>
  <Application>WPS Presentation</Application>
  <PresentationFormat>On-screen Show (4:3)</PresentationFormat>
  <Paragraphs>657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Arial</vt:lpstr>
      <vt:lpstr>Segoe UI</vt:lpstr>
      <vt:lpstr>Thonburi</vt:lpstr>
      <vt:lpstr>Consolas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Retrieval-Augmented Generation</dc:title>
  <dc:creator>GenAI Learning Workshop</dc:creator>
  <cp:keywords>RAG, LangChain, embeddings, vector search</cp:keywords>
  <dc:subject>RAG fundamentals, pipelines, hands-on build, and enhancements</dc:subject>
  <cp:lastModifiedBy>Raja R</cp:lastModifiedBy>
  <cp:revision>11</cp:revision>
  <dcterms:created xsi:type="dcterms:W3CDTF">2026-08-27T13:07:04Z</dcterms:created>
  <dcterms:modified xsi:type="dcterms:W3CDTF">2026-08-27T13:07:04Z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0B351F5BC85A4AEA4635906AC835CDB3_42</vt:lpwstr>
  </property>
  <property fmtid="{D5CDD505-2E9C-101B-9397-08002B2CF9AE}" pid="3" name="KSOProductBuildVer">
    <vt:lpwstr>1033-12.1.26050.26050</vt:lpwstr>
  </property>
</Properties>
</file>